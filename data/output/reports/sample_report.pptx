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Variance Analysis Report</a:t>
            </a:r>
          </a:p>
          <a:p>
            <a:pPr algn="ctr">
              <a:defRPr sz="1600">
                <a:solidFill>
                  <a:srgbClr val="00A8C7"/>
                </a:solidFill>
              </a:defRPr>
            </a:pPr>
            <a:r>
              <a:t>May 2026 close: Revenue down 2.4%, EBITDA down 12.5%. 1 of 5 BUs exceeded revenue targets.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2C77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A8C7"/>
                </a:solidFill>
              </a:defRPr>
            </a:pPr>
            <a:r>
              <a:t>Total Revenue</a:t>
            </a:r>
          </a:p>
          <a:p>
            <a:pPr>
              <a:defRPr sz="2000" b="1"/>
            </a:pPr>
            <a:r>
              <a:t>$965,915</a:t>
            </a:r>
          </a:p>
          <a:p>
            <a:pPr>
              <a:defRPr sz="1200">
                <a:solidFill>
                  <a:srgbClr val="F97066"/>
                </a:solidFill>
              </a:defRPr>
            </a:pPr>
            <a:r>
              <a:t>-2.4%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371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A8C7"/>
                </a:solidFill>
              </a:defRPr>
            </a:pPr>
            <a:r>
              <a:t>Total COGS</a:t>
            </a:r>
          </a:p>
          <a:p>
            <a:pPr>
              <a:defRPr sz="2000" b="1"/>
            </a:pPr>
            <a:r>
              <a:t>$384,075</a:t>
            </a:r>
          </a:p>
          <a:p>
            <a:pPr>
              <a:defRPr sz="1200">
                <a:solidFill>
                  <a:srgbClr val="F97066"/>
                </a:solidFill>
              </a:defRPr>
            </a:pPr>
            <a:r>
              <a:t>-0.2%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A8C7"/>
                </a:solidFill>
              </a:defRPr>
            </a:pPr>
            <a:r>
              <a:t>Gross Profit</a:t>
            </a:r>
          </a:p>
          <a:p>
            <a:pPr>
              <a:defRPr sz="2000" b="1"/>
            </a:pPr>
            <a:r>
              <a:t>$581,840</a:t>
            </a:r>
          </a:p>
          <a:p>
            <a:pPr>
              <a:defRPr sz="1200">
                <a:solidFill>
                  <a:srgbClr val="F97066"/>
                </a:solidFill>
              </a:defRPr>
            </a:pPr>
            <a:r>
              <a:t>-3.7%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A8C7"/>
                </a:solidFill>
              </a:defRPr>
            </a:pPr>
            <a:r>
              <a:t>Total OpEx</a:t>
            </a:r>
          </a:p>
          <a:p>
            <a:pPr>
              <a:defRPr sz="2000" b="1"/>
            </a:pPr>
            <a:r>
              <a:t>$418,260</a:t>
            </a:r>
          </a:p>
          <a:p>
            <a:pPr>
              <a:defRPr sz="1200">
                <a:solidFill>
                  <a:srgbClr val="2DD4A8"/>
                </a:solidFill>
              </a:defRPr>
            </a:pPr>
            <a:r>
              <a:t>+1.2%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A8C7"/>
                </a:solidFill>
              </a:defRPr>
            </a:pPr>
            <a:r>
              <a:t>EBITDA</a:t>
            </a:r>
          </a:p>
          <a:p>
            <a:pPr>
              <a:defRPr sz="2000" b="1"/>
            </a:pPr>
            <a:r>
              <a:t>$192,646</a:t>
            </a:r>
          </a:p>
          <a:p>
            <a:pPr>
              <a:defRPr sz="1200">
                <a:solidFill>
                  <a:srgbClr val="F97066"/>
                </a:solidFill>
              </a:defRPr>
            </a:pPr>
            <a:r>
              <a:t>-12.5%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2C77"/>
                </a:solidFill>
              </a:defRPr>
            </a:pPr>
            <a:r>
              <a:t>Top Material Variances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Variance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Narrative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Advisory &amp; Brokerage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$-7,428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$7K decreased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$-6,953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$7K decreased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Advisory &amp; Brokerage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$-6,583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$7K decreased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$-6,464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$6K decreased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$-6,340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$6K decreased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Advisory &amp; Brokerage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$-6,160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$6K decreased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$5,838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$6K increased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Reinsurance Commissions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$5,666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$6K increased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2C77"/>
                </a:solidFill>
              </a:defRPr>
            </a:pPr>
            <a:r>
              <a:t>Risk Items &amp;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Netting: acct_opex +$0.3K / acct_revenue -$0.9K (Net: -$0.6K)</a:t>
            </a:r>
          </a:p>
          <a:p>
            <a:pPr>
              <a:defRPr sz="1200"/>
            </a:pPr>
            <a:r>
              <a:t>Netting: acct_cor +$0.4K / acct_revenue -$0.8K (Net: -$0.5K)</a:t>
            </a:r>
          </a:p>
          <a:p>
            <a:pPr>
              <a:defRPr sz="1200"/>
            </a:pPr>
            <a:r>
              <a:t>Netting: acct_advisory_fees +$1.1K / acct_direct_comp -$1.0K (Net: -$0.5K)</a:t>
            </a:r>
          </a:p>
          <a:p>
            <a:pPr>
              <a:defRPr sz="1200"/>
            </a:pPr>
            <a:r>
              <a:t>Trend: Operating Income: 7 consecutive months increasing - +$34K projected YE</a:t>
            </a:r>
          </a:p>
          <a:p>
            <a:pPr>
              <a:defRPr sz="1200"/>
            </a:pPr>
            <a:r>
              <a:t>Trend: Pbt: 7 consecutive months increasing - +$34K projected YE</a:t>
            </a:r>
          </a:p>
          <a:p>
            <a:pPr>
              <a:defRPr sz="1200"/>
            </a:pPr>
            <a:r>
              <a:t>Trend: Net Income: 7 consecutive months increasing - +$34K projected YE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2C77"/>
                </a:solidFill>
              </a:defRPr>
            </a:pPr>
            <a:r>
              <a:t>Executive Summary</a:t>
            </a:r>
          </a:p>
          <a:p>
            <a:pPr>
              <a:spcAft>
                <a:spcPts val="800"/>
              </a:spcAft>
              <a:defRPr sz="1100"/>
            </a:pPr>
            <a:r>
              <a:t>May 2026 financial performance vs Budget: Revenue decreased by $46,542 (-2.4%) vs Budget. Key drivers: Advisory &amp; Brokerage Fees (-25,372), Reinsurance Commissions (+9,818), Consulting Fees (-4,756). 1 of 6 lines contributed positively.</a:t>
            </a:r>
          </a:p>
          <a:p>
            <a:pPr>
              <a:spcAft>
                <a:spcPts val="800"/>
              </a:spcAft>
              <a:defRPr sz="1100"/>
            </a:pPr>
            <a:r>
              <a:t>Cost management: COGS decreased by $1,523 (-0.2%) vs Budget. Key drivers: Direct Compensation (-1,449), Subcontractor Costs (+850), Direct Technology Costs (-353). 2 of 4 lines contributed positively. OpEx increased by $10,075 (+1.2%) vs Budget. Key drivers: Technology &amp; Infrastructure (+3,337), Com</a:t>
            </a:r>
          </a:p>
          <a:p>
            <a:pPr>
              <a:spcAft>
                <a:spcPts val="800"/>
              </a:spcAft>
              <a:defRPr sz="1100"/>
            </a:pPr>
            <a:r>
              <a:t>2 risk items identified. 9695 trending variances identified. 12 netting offsets detected.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A8C7"/>
                </a:solidFill>
              </a:defRPr>
            </a:pPr>
            <a:r>
              <a:t>Marsh Vantage -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