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Marsh 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27432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A8C7"/>
                </a:solidFill>
                <a:latin typeface="Calibri"/>
              </a:defRPr>
            </a:pPr>
            <a:r>
              <a:t>AI-Powered FP&amp;A Variance 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Executive Review  |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C77"/>
                </a:solidFill>
                <a:latin typeface="Calibri"/>
              </a:defRPr>
            </a:pPr>
            <a:r>
              <a:t>The Close Cycle Is Broken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Finance teams spend more time gathering data than generating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Analysts spend 60%+ of close cycle</a:t>
            </a:r>
            <a:br/>
            <a:r>
              <a:t>on manual data gathering</a:t>
            </a:r>
            <a:br/>
            <a:br/>
            <a:r>
              <a:t>Narrative drafting takes days,</a:t>
            </a:r>
            <a:br/>
            <a:r>
              <a:t>not minutes</a:t>
            </a:r>
            <a:br/>
            <a:br/>
            <a:r>
              <a:t>Leadership gets stale information</a:t>
            </a:r>
            <a:br/>
            <a:r>
              <a:t>after decisions are already made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Inconsistent narratives across</a:t>
            </a:r>
            <a:br/>
            <a:r>
              <a:t>business units and periods</a:t>
            </a:r>
            <a:br/>
            <a:br/>
            <a:r>
              <a:t>Root cause analysis depends on</a:t>
            </a:r>
            <a:br/>
            <a:r>
              <a:t>individual analyst knowledge</a:t>
            </a:r>
            <a:br/>
            <a:br/>
            <a:r>
              <a:t>No systematic way to learn from</a:t>
            </a:r>
            <a:br/>
            <a:r>
              <a:t>past commentary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286000"/>
            <a:ext cx="3108960" cy="45720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9260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 audit trail for variance</a:t>
            </a:r>
            <a:br/>
            <a:r>
              <a:t>commentary changes</a:t>
            </a:r>
            <a:br/>
            <a:br/>
            <a:r>
              <a:t>CFO sees unvetted drafts</a:t>
            </a:r>
            <a:br/>
            <a:r>
              <a:t>mixed with approved content</a:t>
            </a:r>
            <a:br/>
            <a:br/>
            <a:r>
              <a:t>Material variances can hide</a:t>
            </a:r>
            <a:br/>
            <a:r>
              <a:t>behind netting offsets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If Every Material Variance Had</a:t>
            </a:r>
            <a:br/>
            <a:r>
              <a:t>an AI-Drafted Narrative in Minutes?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7432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Automated detection of 4,400+ material variances across the full P&amp;L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AI-generated root cause narratives with decomposition (volume, price, mix, FX)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Structured review workflow with quality gates before leadership sees anything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Self-serve conversational AI — ask any variance question in natural language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One platform, one source of truth, from analyst detail to board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C77"/>
                </a:solidFill>
                <a:latin typeface="Calibri"/>
              </a:defRPr>
            </a:pPr>
            <a:r>
              <a:t>Marsh Vantage — Capability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Variance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5.5-pass engine</a:t>
            </a:r>
            <a:br/>
            <a:r>
              <a:t>300K+ variances computed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148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Vol x Price x Mix x FX</a:t>
            </a:r>
            <a:br/>
            <a:r>
              <a:t>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Narratives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4-level commentary</a:t>
            </a:r>
            <a:br/>
            <a:r>
              <a:t>detail to 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83280"/>
            <a:ext cx="310896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86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AI Draft → Analyst Review</a:t>
            </a:r>
            <a:br/>
            <a:r>
              <a:t>→ Director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10896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Conversational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86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Ask any question</a:t>
            </a:r>
            <a:br/>
            <a:r>
              <a:t>streamed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383280"/>
            <a:ext cx="310896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886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XLSX, PDF, PPTX, DOCX</a:t>
            </a:r>
            <a:br/>
            <a:r>
              <a:t>scheduled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3108960" cy="45720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Persona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62355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6 personas, 7 roles</a:t>
            </a:r>
            <a:br/>
            <a:r>
              <a:t>data isolation enforced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5120640"/>
            <a:ext cx="3108960" cy="45720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Knowledge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62355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RAG pipeline</a:t>
            </a:r>
            <a:br/>
            <a:r>
              <a:t>learns from approved commentary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120640"/>
            <a:ext cx="3108960" cy="457200"/>
          </a:xfrm>
          <a:prstGeom prst="round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62355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Full audit trail</a:t>
            </a:r>
            <a:br/>
            <a:r>
              <a:t>every action logged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C77"/>
                </a:solidFill>
                <a:latin typeface="Calibri"/>
              </a:defRPr>
            </a:pPr>
            <a:r>
              <a:t>The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457200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457200"/>
          </a:xfrm>
          <a:prstGeom prst="round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AFTER — WITH 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Analysts manually scan spreadsheets for variances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Engine auto-detects all 4,400+ material variances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Narratives drafted from scratch each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443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AI drafts 4-level narratives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027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Root cause analysis depends on tribal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027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Decomposition + AI hypotheses surface root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6110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Director reviews via email chain, no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6110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Structured approval queue with full audit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194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Board deck assembled manually from disparate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194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One-click report generation from approved content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Same variance explanation written differently by each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778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C77"/>
                </a:solidFill>
                <a:latin typeface="Calibri"/>
              </a:defRPr>
            </a:pPr>
            <a:r>
              <a:t>RAG learns from approved commentary — consistent voice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For the Analyst: From Data Gathering to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The analyst's time shifts from manual extraction to judgment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AI pre-drafts narratives for every material variance — analyst edits, not writes from scratch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Decomposition shows exactly what drove the variance (volume, price, mix, FX)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Hypothesis cards suggest root causes with confidence scores — thumbs up/down improves future AI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Review queue sorted by impact and SLA — focus on what matters most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Chat agent answers ad-hoc questions instantly — no more hunting through spreadsheets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Knowledge base grows with every approval — the system gets smarter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760720"/>
            <a:ext cx="914400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Result: Analyst close cycle contribution reduced from days to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For the CFO: Confidence in Every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Every variance narrative in the board deck has been reviewed, approved, and audited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502920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DIRECTOR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Approval queue shows only analyst-reviewed items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Bulk approve by analyst — trust the team, verify exceptions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Report gate: nothing unapproved reaches distribution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Synthesis auto-generates parent summaries from children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02920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Sees only APPROVED variances — no raw drafts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Summary-level narratives, not analyst detail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One-click board deck generation (PDF/PPTX/DOCX)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Full audit trail: who wrote, who reviewed, who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10332720" cy="457200"/>
          </a:xfrm>
          <a:prstGeom prst="round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Result: From 'hope the numbers are right' to 'know every narrative is vetted'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Variance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A8C7"/>
                </a:solidFill>
                <a:latin typeface="Calibri"/>
              </a:defRPr>
            </a:pPr>
            <a:r>
              <a:t>From detection to board deck — every step tracked, every narrative vetted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10972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Engine</a:t>
            </a:r>
            <a:br/>
            <a:r>
              <a:t>Detects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300K variances</a:t>
            </a:r>
            <a:br/>
            <a:r>
              <a:t>computed in &lt;15s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8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1920240" cy="10972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  <a:br/>
            <a:r>
              <a:t>Drafts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566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4,400 narratives</a:t>
            </a:r>
            <a:br/>
            <a:r>
              <a:t>with 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8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286000"/>
            <a:ext cx="1920240" cy="10972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Analyst</a:t>
            </a:r>
            <a:br/>
            <a:r>
              <a:t>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3566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Edit text, validate</a:t>
            </a:r>
            <a:br/>
            <a:r>
              <a:t>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8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286000"/>
            <a:ext cx="1920240" cy="10972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Director</a:t>
            </a:r>
            <a:br/>
            <a:r>
              <a:t>Approves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66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Quality gate before</a:t>
            </a:r>
            <a:br/>
            <a:r>
              <a:t>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651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8C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86000"/>
            <a:ext cx="1920240" cy="10972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Reports</a:t>
            </a:r>
            <a:br/>
            <a:r>
              <a:t>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5661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XLSX, PDF, PPTX</a:t>
            </a:r>
            <a:br/>
            <a:r>
              <a:t>DOCX — automated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Quality gates at every transition. Audit log captures every action. Knowledge base learns from every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Conversational AI: Ask Any Variance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Natural language interface powered by Claude — no training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C77"/>
                </a:solidFill>
                <a:latin typeface="Calibri"/>
              </a:defRPr>
            </a:pPr>
            <a:r>
              <a:t>"How did revenue perform this quarter?"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Streamed response with KPI data, waterfall breakdown, BU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C77"/>
                </a:solidFill>
                <a:latin typeface="Calibri"/>
              </a:defRPr>
            </a:pPr>
            <a:r>
              <a:t>"Break down the APAC consulting variance"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Volume × Price × Mix × FX decomposition with driver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C77"/>
                </a:solidFill>
                <a:latin typeface="Calibri"/>
              </a:defRPr>
            </a:pPr>
            <a:r>
              <a:t>"Are there any netting offsets I should know about?"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Identifies parent nodes hiding offsetting child variances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C77"/>
                </a:solidFill>
                <a:latin typeface="Calibri"/>
              </a:defRPr>
            </a:pPr>
            <a:r>
              <a:t>"What are the trending cost items?"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709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Flags 3+ consecutive period patterns with cumulative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C77"/>
                </a:solidFill>
                <a:latin typeface="Calibri"/>
              </a:defRPr>
            </a:pPr>
            <a:r>
              <a:t>"Show me the board-ready revenue narrative"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→ Summary-level approved commentary for leadership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3272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 specialized tools  |  Intent classification  |  SSE streaming  |  Persona-aware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Built for Trust: Security, RBAC, and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JWT token-based auth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Azure AD (Entra ID) ready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Session management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Auto-refresh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7 system roles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BU-scoped data isolation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Persona-narrative filtering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CFO sees only 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108960" cy="457200"/>
          </a:xfrm>
          <a:prstGeom prst="roundRect">
            <a:avLst/>
          </a:prstGeom>
          <a:solidFill>
            <a:srgbClr val="002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2860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Every action logged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Who wrote, reviewed, approved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Searchable audit trail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Config change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64008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947 automated tests  |  0 failures  |  Unit + Integration + Performance + E2E + Playwright browser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300K+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Variances</a:t>
            </a:r>
            <a:br/>
            <a:r>
              <a:t>Computed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4,400+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Material</a:t>
            </a:r>
            <a:br/>
            <a:r>
              <a:t>Variances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4,373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AI-Generated</a:t>
            </a:r>
            <a:br/>
            <a:r>
              <a:t>Narratives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947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Automated</a:t>
            </a:r>
            <a:br/>
            <a:r>
              <a:t>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828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8C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Docker</a:t>
            </a:r>
            <a:br/>
            <a:r>
              <a:t>Containers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Sprints</a:t>
            </a:r>
            <a:br/>
            <a:r>
              <a:t>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Persona</a:t>
            </a:r>
            <a:br/>
            <a:r>
              <a:t>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Report</a:t>
            </a:r>
            <a:br/>
            <a:r>
              <a:t>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Data</a:t>
            </a:r>
            <a:br/>
            <a:r>
              <a:t>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Engine</a:t>
            </a:r>
            <a:br/>
            <a:r>
              <a:t>Passes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840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DD4A8"/>
                </a:solidFill>
                <a:latin typeface="Calibri"/>
              </a:defRPr>
            </a:pPr>
            <a:r>
              <a:t>&lt;15s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Pipeline</a:t>
            </a:r>
            <a:br/>
            <a:r>
              <a:t>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Phase 2: Expanding Coverage (Weeks 13-24)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From revenue-focused MVP to full P&amp;L coverage with ML-powered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Balance Sheet &amp; HC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Extend the AI agent to cover balance sheet variances, headcount analytics, and KPI tracking — same workflow, broader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Databricks Production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Move from synthetic data to live Databricks (Unity Catalog, Delta Lake, SQL Serverless) — real-time variance detection on actual financial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ML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40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Isolation Forest for outlier detection, linear regression for trend prediction, STL seasonality decomposition — flag issues before humans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Advanced Netting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48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Netting checks 5-6 (hierarchical cascade, period-shifted), Trend rules 3-4 (acceleration, regression slope) — deeper analytical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PPTX Template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692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Branded PowerPoint templates with dynamic charts, auto-populated from approved narratives — board deck in one click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Phase 3: Predictive Finance (Weeks 25-36)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8C7"/>
                </a:solidFill>
                <a:latin typeface="Calibri"/>
              </a:defRPr>
            </a:pPr>
            <a:r>
              <a:t>From 'explain what happened' to 'predict what will happen' to 'recommend what to do'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XGBoost Root Cause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ML model ranks root causes by likelihood, trained on analyst feedback — AI gets smarter with every approval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Predictive Variance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Random Forest models predict next-period variances before they happen — shift from reactive to proactive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DBSCAN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40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Automatically groups related variances into themes — 'APAC revenue weakness' not 50 individual line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Teams @mention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548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Variance alerts and approval requests delivered directly in Microsoft Teams — meet users where they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2C77"/>
                </a:solidFill>
                <a:latin typeface="Calibri"/>
              </a:defRPr>
            </a:pPr>
            <a:r>
              <a:t>Excel Add-in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692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Browse variances, read narratives, and approve directly from Excel — for finance teams that live in spreadsheets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Strategic Vision for Finance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108960" cy="457200"/>
          </a:xfrm>
          <a:prstGeom prst="round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MVP (Today)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8C7"/>
                </a:solidFill>
                <a:latin typeface="Calibri"/>
              </a:defRPr>
            </a:pPr>
            <a:r>
              <a:t>Detect &amp;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Automated variance detection,</a:t>
            </a:r>
            <a:br/>
            <a:r>
              <a:t>AI-generated narratives,</a:t>
            </a:r>
            <a:br/>
            <a:r>
              <a:t>structured review workflow,</a:t>
            </a:r>
            <a:br/>
            <a:r>
              <a:t>board-ready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108960" cy="457200"/>
          </a:xfrm>
          <a:prstGeom prst="round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A8"/>
                </a:solidFill>
                <a:latin typeface="Calibri"/>
              </a:defRPr>
            </a:pPr>
            <a:r>
              <a:t>Detect &amp;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ML anomaly detection,</a:t>
            </a:r>
            <a:br/>
            <a:r>
              <a:t>live Databricks data,</a:t>
            </a:r>
            <a:br/>
            <a:r>
              <a:t>expanded agent coverage,</a:t>
            </a:r>
            <a:br/>
            <a:r>
              <a:t>proactive trend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108960" cy="4572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Calibri"/>
              </a:defRPr>
            </a:pPr>
            <a:r>
              <a:t>Predict &amp; Recommend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Predictive variance forecasting,</a:t>
            </a:r>
            <a:br/>
            <a:r>
              <a:t>root cause ranking,</a:t>
            </a:r>
            <a:br/>
            <a:r>
              <a:t>Teams integration,</a:t>
            </a:r>
            <a:br/>
            <a:r>
              <a:t>continuous close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Marsh Vantage transforms FP&amp;A from a backward-looking reporting function</a:t>
            </a:r>
            <a:br/>
            <a:r>
              <a:t>into a forward-looking strategic intelligence capability.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C77"/>
                </a:solidFill>
                <a:latin typeface="Calibri"/>
              </a:defRPr>
            </a:pPr>
            <a:r>
              <a:t>What This Enables for Finance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Faster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Variance analysis that took days now takes hours. AI handles the first draft — analysts focus on judgment, not data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Consistent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Every narrative follows the same structure, uses the same terminology, and learns from previously approved commentary via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Complete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Every variance narrative is tracked: who generated it (AI), who edited it (analyst), who approved it (director). Full compliance.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Self-Serve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BU leaders and CFOs don't wait for FP&amp;A to prepare slides. They open Vantage, see their data, download their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Scalable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Add new BUs, accounts, or geographies — the engine scales. No incremental analyst headcount per BU.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C77"/>
                </a:solidFill>
                <a:latin typeface="Calibri"/>
              </a:defRPr>
            </a:pPr>
            <a:r>
              <a:t>Foundation for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The review workflow generates training data. Every thumbs-up on a hypothesis trains the next generation of ML models.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Marsh 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017520"/>
            <a:ext cx="2743200" cy="36576"/>
          </a:xfrm>
          <a:prstGeom prst="rect">
            <a:avLst/>
          </a:prstGeom>
          <a:solidFill>
            <a:srgbClr val="00A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A8C7"/>
                </a:solidFill>
                <a:latin typeface="Calibri"/>
              </a:defRPr>
            </a:pPr>
            <a:r>
              <a:t>Transforming FP&amp;A from Reporting to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MVP Delivered  |  947 Tests  |  Production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